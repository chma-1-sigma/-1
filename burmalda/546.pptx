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9" r:id="rId5"/>
    <p:sldId id="290" r:id="rId6"/>
    <p:sldId id="286" r:id="rId7"/>
    <p:sldId id="260" r:id="rId8"/>
    <p:sldId id="271" r:id="rId9"/>
    <p:sldId id="287" r:id="rId10"/>
    <p:sldId id="288" r:id="rId11"/>
    <p:sldId id="29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>
      <p:cViewPr>
        <p:scale>
          <a:sx n="66" d="100"/>
          <a:sy n="66" d="100"/>
        </p:scale>
        <p:origin x="474" y="9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E70D8-E793-4006-AAE2-0004D23BC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745E11-33A9-4C5C-85F2-791E09641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443669-2295-44DF-B66D-BDED5AE7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422BEA-8B7C-47AF-A70F-0A2E6058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BC030B-A078-4703-B26E-EAD0178C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11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3EA53-AFAE-4DFB-9059-073BD93D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E583F7-EB2B-4CB8-94BF-A5E8F68B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C3D930-A758-40F4-B8FD-0C44B638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E2CAC8-EF0F-4E23-8966-DD548AA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372FC6-457D-4813-93B4-C7D6DEBA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3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08432-FF37-4FDB-B4A3-AA53559E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0D4CC6-C2BF-450E-9B99-B3CC3AA9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EBC61-A6D0-4EAE-9726-FB77226F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3B618-727E-4012-8EE9-3696F2DC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D6A5BF-AAB0-4924-9907-289D2E92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88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1FC3B-4919-46FF-8E86-AB8ADACB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D60EBB-E43B-4F41-8A59-0C2A2679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4461A-4DA4-4D71-9555-69BE0C1A3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A04D12-0628-4C65-919D-0AAA49A1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8347D3-9123-4D13-BC5D-61326C6F7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52EFC4-BDCF-4FA7-A445-330FC598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36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9C2D8-5BA8-4370-AF92-DB000331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313205-AABF-4A4E-9269-270481FD8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0BD633-5647-4422-BC91-13DC3A82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67D231-A554-4A3E-84B9-B2FA3294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5B08D6-758D-44A8-8501-8BBE53A72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88DF29-3ECA-4303-B883-20E8743F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C27582-9983-4961-82AC-739536828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BEDF94-D718-4FE3-A724-5C9D67AC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69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802F4-3591-448A-8FCD-1DF6F517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2273B7-85C2-4F2F-99E2-965B6DA0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8B06E0-66B5-483C-B31E-4190E7E6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2F37AF-589B-46A7-BC61-3D55E4E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48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F4AE84-AD96-4642-8C13-75CDC78C3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6A798DF-9DF8-4598-82C4-DBF18F38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4D0E14-E2D7-4FC1-9080-41949B18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7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79049-C527-4D53-823A-32482962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6BA78-72C8-418F-B4FE-30AAAD00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9CFC97-B736-496F-B85E-7854A479D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57E5D5-0CCE-4D2A-BDE4-C50094203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5F690E-4BF0-401C-AB34-DD969CA2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662955-89F0-4BE6-B515-704D70E8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90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EE7E4-8466-4425-B878-78EC7264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59C8AE-31FC-4E6A-B841-337ECEE59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7D19A4-63B2-47B0-8307-54327F4C2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46BB4F-DBA1-49FA-9919-8CE6E24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C8DE1F-A68C-480C-865D-83B1A680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02062B-30EC-4765-A0DA-5E966BBB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88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51E74-14A4-4ADA-BC97-274F87CA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16E766-A8B6-4437-8330-C5A8B2601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9AA25A-0249-4EC5-A3A5-32C706B9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46D6D-B034-4049-9334-42CACEFA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45BB2C-1BFA-4297-AD85-231AFB70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33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542DA6-8265-4CDF-B7D5-DAFDF892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A75D10-662D-4AA7-99DC-BC4B583CF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76D70D-BDB5-4E62-B29E-38FC54C5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375AE-7C58-477A-8876-E6FB6797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6D156E-0978-4B25-9CB0-EB145FD6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19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7000">
              <a:schemeClr val="accent1">
                <a:lumMod val="5000"/>
                <a:lumOff val="95000"/>
              </a:schemeClr>
            </a:gs>
            <a:gs pos="100000">
              <a:srgbClr val="ABC0E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25882-0C66-4C8E-80A6-433D0B42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D196A6-8536-431D-BED2-E41CCCA1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D9945-C609-4A7D-87EB-07109189F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E4A9F-7A08-4A25-9828-1439FBCA1B7A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60B45-D604-4EDD-9AB1-7D7B43BA5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89648-992F-4F8B-A030-DF9D0D4EE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44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1F9E-0B07-4BB3-8CCA-A21E6F170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507188"/>
            <a:ext cx="9144000" cy="1901500"/>
          </a:xfrm>
        </p:spPr>
        <p:txBody>
          <a:bodyPr>
            <a:normAutofit/>
          </a:bodyPr>
          <a:lstStyle/>
          <a:p>
            <a:pPr algn="ctr"/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ПМ11. Разработка, администрирование и защита баз данных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E2556A-8C10-4DCD-8E29-4626101B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1814" y="3547342"/>
            <a:ext cx="5087566" cy="285345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dirty="0"/>
              <a:t>Выполнил: </a:t>
            </a:r>
          </a:p>
          <a:p>
            <a:pPr algn="l"/>
            <a:r>
              <a:rPr lang="ru-RU" dirty="0"/>
              <a:t>Шумайлов Кирилл Константинович</a:t>
            </a:r>
          </a:p>
          <a:p>
            <a:pPr algn="l"/>
            <a:r>
              <a:rPr lang="ru-RU" dirty="0"/>
              <a:t>Группа 23П-2</a:t>
            </a:r>
          </a:p>
          <a:p>
            <a:pPr algn="l"/>
            <a:r>
              <a:rPr lang="ru-RU" dirty="0"/>
              <a:t>Специальность: </a:t>
            </a:r>
          </a:p>
          <a:p>
            <a:pPr algn="l"/>
            <a:r>
              <a:rPr lang="ru-RU" dirty="0"/>
              <a:t>09.02.07 Информационные системы и программирование</a:t>
            </a:r>
          </a:p>
          <a:p>
            <a:pPr algn="l"/>
            <a:r>
              <a:rPr lang="ru-RU" dirty="0"/>
              <a:t>Форма обучения: очная</a:t>
            </a:r>
          </a:p>
          <a:p>
            <a:pPr algn="l"/>
            <a:r>
              <a:rPr lang="ru-RU" dirty="0"/>
              <a:t>Руководитель:: Калинин Арсений Олегович</a:t>
            </a:r>
          </a:p>
          <a:p>
            <a:pPr algn="l"/>
            <a:endParaRPr lang="ru-RU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C5ED6EA-F80B-4D7B-9656-F3821970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355817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ru-RU" altLang="ru-RU" sz="2000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/>
              <a:t>«Слободской колледж педагогики и социальных отношений»</a:t>
            </a:r>
          </a:p>
        </p:txBody>
      </p:sp>
      <p:pic>
        <p:nvPicPr>
          <p:cNvPr id="5" name="Picture 14" descr="touch-icon-ipad-retina">
            <a:extLst>
              <a:ext uri="{FF2B5EF4-FFF2-40B4-BE49-F238E27FC236}">
                <a16:creationId xmlns:a16="http://schemas.microsoft.com/office/drawing/2014/main" id="{3F50CCB7-BCFB-4B90-80AF-73B2EABBC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22" y="10964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5">
            <a:extLst>
              <a:ext uri="{FF2B5EF4-FFF2-40B4-BE49-F238E27FC236}">
                <a16:creationId xmlns:a16="http://schemas.microsoft.com/office/drawing/2014/main" id="{A44A0B62-7BFA-4EE7-82BC-8DBA0521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55" y="6198669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4699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C43DF-BF4D-4974-B386-12CD5076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ЦЕЛЬ И ЗАДАЧИ ПРАКТИКИ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EA7DD78-BAE0-4062-9389-1D3733B1BBA4}"/>
              </a:ext>
            </a:extLst>
          </p:cNvPr>
          <p:cNvSpPr txBox="1">
            <a:spLocks/>
          </p:cNvSpPr>
          <p:nvPr/>
        </p:nvSpPr>
        <p:spPr>
          <a:xfrm>
            <a:off x="1524000" y="155499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86AF2B-7B69-9303-A357-3A9283BB7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445" y="1851944"/>
            <a:ext cx="7833798" cy="4351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u-RU" dirty="0"/>
              <a:t>Цель: Разработка системы контроля пропускного режима для объекта КИИ.</a:t>
            </a:r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pPr marL="0" indent="0">
              <a:buNone/>
            </a:pPr>
            <a:r>
              <a:rPr lang="ru-RU" dirty="0"/>
              <a:t>Проектирование базы данных в 3 нормальной форме</a:t>
            </a:r>
          </a:p>
          <a:p>
            <a:pPr marL="0" indent="0">
              <a:buNone/>
            </a:pPr>
            <a:r>
              <a:rPr lang="ru-RU" dirty="0"/>
              <a:t>Разработка 4 клиентских терминалов</a:t>
            </a:r>
          </a:p>
          <a:p>
            <a:pPr marL="0" indent="0">
              <a:buNone/>
            </a:pPr>
            <a:r>
              <a:rPr lang="ru-RU" dirty="0"/>
              <a:t>Реализация многоуровневой системы доступа</a:t>
            </a:r>
          </a:p>
          <a:p>
            <a:pPr marL="0" indent="0">
              <a:buNone/>
            </a:pPr>
            <a:r>
              <a:rPr lang="ru-RU" dirty="0"/>
              <a:t>Автоматизация проверки чёрного списка</a:t>
            </a:r>
          </a:p>
          <a:p>
            <a:pPr marL="0" indent="0">
              <a:buNone/>
            </a:pPr>
            <a:r>
              <a:rPr lang="ru-RU" dirty="0"/>
              <a:t>Формирование отчётов и уведомлений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AutoShape 4" descr="Мерседес на подъёмнике в ремонте">
            <a:extLst>
              <a:ext uri="{FF2B5EF4-FFF2-40B4-BE49-F238E27FC236}">
                <a16:creationId xmlns:a16="http://schemas.microsoft.com/office/drawing/2014/main" id="{E32FBD46-92CA-8970-5EB6-4C32326FD3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2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F8CFEEF-6BB4-4378-9CD8-06510AEF8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71" y="2147238"/>
            <a:ext cx="5313830" cy="41061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D14948B-999B-4BA8-9D35-9F934483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Анализ предметной области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5439C-AF4A-B337-6266-2EDA63C7FB78}"/>
              </a:ext>
            </a:extLst>
          </p:cNvPr>
          <p:cNvSpPr txBox="1"/>
          <p:nvPr/>
        </p:nvSpPr>
        <p:spPr>
          <a:xfrm>
            <a:off x="1178670" y="1826695"/>
            <a:ext cx="6573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Основные функции программы: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b="1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9BC7258-D619-B402-D6CA-496B795EBBE9}"/>
              </a:ext>
            </a:extLst>
          </p:cNvPr>
          <p:cNvSpPr txBox="1">
            <a:spLocks/>
          </p:cNvSpPr>
          <p:nvPr/>
        </p:nvSpPr>
        <p:spPr>
          <a:xfrm>
            <a:off x="1524000" y="29168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DFFA6-5C0F-4359-943B-B486D1EFD724}"/>
              </a:ext>
            </a:extLst>
          </p:cNvPr>
          <p:cNvSpPr txBox="1"/>
          <p:nvPr/>
        </p:nvSpPr>
        <p:spPr>
          <a:xfrm>
            <a:off x="1178670" y="2413337"/>
            <a:ext cx="46809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Регистрация посетителя</a:t>
            </a:r>
          </a:p>
          <a:p>
            <a:r>
              <a:rPr lang="ru-RU" sz="2800" dirty="0"/>
              <a:t>Подача заявки	</a:t>
            </a:r>
          </a:p>
          <a:p>
            <a:r>
              <a:rPr lang="ru-RU" sz="2800" dirty="0"/>
              <a:t>Проверка заявки	</a:t>
            </a:r>
          </a:p>
          <a:p>
            <a:r>
              <a:rPr lang="ru-RU" sz="2800" dirty="0"/>
              <a:t>Одобрение/отклонение	</a:t>
            </a:r>
          </a:p>
          <a:p>
            <a:r>
              <a:rPr lang="ru-RU" sz="2800" dirty="0"/>
              <a:t>Разрешение доступа</a:t>
            </a:r>
          </a:p>
          <a:p>
            <a:r>
              <a:rPr lang="ru-RU" sz="2800" dirty="0"/>
              <a:t>Фиксация времени	</a:t>
            </a:r>
          </a:p>
          <a:p>
            <a:r>
              <a:rPr lang="ru-RU" sz="2800" dirty="0"/>
              <a:t>Формирование отчётов</a:t>
            </a:r>
            <a:r>
              <a:rPr lang="ru-RU" dirty="0"/>
              <a:t>	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24DCA9-6238-4FA5-9831-01B81F772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744" y="1651933"/>
            <a:ext cx="3738569" cy="26526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2CAB6B5-B112-4052-A8D1-A4586F535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271" y="2978235"/>
            <a:ext cx="2921000" cy="23753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147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5132D-CD85-5F4D-CC53-E5E2C571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ЭТАПЫ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A45567-B894-FBC6-44CB-1E565CBB8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1 ЭТАП: </a:t>
            </a:r>
            <a:r>
              <a:rPr lang="ru-RU" dirty="0">
                <a:solidFill>
                  <a:srgbClr val="0F1115"/>
                </a:solidFill>
                <a:effectLst/>
              </a:rPr>
              <a:t>Анализ и проектирование</a:t>
            </a:r>
          </a:p>
          <a:p>
            <a:endParaRPr lang="ru-RU" dirty="0"/>
          </a:p>
          <a:p>
            <a:r>
              <a:rPr lang="ru-RU" dirty="0"/>
              <a:t>2 ЭТАП: </a:t>
            </a:r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Проектирование базы данных</a:t>
            </a:r>
            <a:endParaRPr lang="en-US" dirty="0"/>
          </a:p>
          <a:p>
            <a:endParaRPr lang="ru-RU" dirty="0"/>
          </a:p>
          <a:p>
            <a:r>
              <a:rPr lang="ru-RU" dirty="0"/>
              <a:t>3 ЭТАП: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Реализация базы данных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PostgreSQL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  <a:p>
            <a:r>
              <a:rPr lang="ru-RU" dirty="0"/>
              <a:t>4 ЭТАП: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SQL объектов (представления, процедуры, триггеры)</a:t>
            </a:r>
          </a:p>
          <a:p>
            <a:endParaRPr lang="ru-RU" dirty="0"/>
          </a:p>
          <a:p>
            <a:r>
              <a:rPr lang="ru-RU" dirty="0"/>
              <a:t>5 ЭТАП: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настольных приложений (C#/WPF)</a:t>
            </a:r>
          </a:p>
          <a:p>
            <a:endParaRPr lang="ru-RU" dirty="0"/>
          </a:p>
          <a:p>
            <a:r>
              <a:rPr lang="ru-RU" dirty="0"/>
              <a:t>6 ЭТАП: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Реализация дополнительного функционала</a:t>
            </a:r>
          </a:p>
        </p:txBody>
      </p:sp>
    </p:spTree>
    <p:extLst>
      <p:ext uri="{BB962C8B-B14F-4D97-AF65-F5344CB8AC3E}">
        <p14:creationId xmlns:p14="http://schemas.microsoft.com/office/powerpoint/2010/main" val="136025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4CA8B-EF47-247E-5ADD-8AA5ECBB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75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ВЫДЕЛЕННЫЕ СУЩНОСТИ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45362F85-7EB9-4567-8EE9-E628EAE3D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25134"/>
              </p:ext>
            </p:extLst>
          </p:nvPr>
        </p:nvGraphicFramePr>
        <p:xfrm>
          <a:off x="2770187" y="1003527"/>
          <a:ext cx="6962775" cy="5545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0925">
                  <a:extLst>
                    <a:ext uri="{9D8B030D-6E8A-4147-A177-3AD203B41FA5}">
                      <a16:colId xmlns:a16="http://schemas.microsoft.com/office/drawing/2014/main" val="1392041946"/>
                    </a:ext>
                  </a:extLst>
                </a:gridCol>
                <a:gridCol w="2320925">
                  <a:extLst>
                    <a:ext uri="{9D8B030D-6E8A-4147-A177-3AD203B41FA5}">
                      <a16:colId xmlns:a16="http://schemas.microsoft.com/office/drawing/2014/main" val="1313709937"/>
                    </a:ext>
                  </a:extLst>
                </a:gridCol>
                <a:gridCol w="2320925">
                  <a:extLst>
                    <a:ext uri="{9D8B030D-6E8A-4147-A177-3AD203B41FA5}">
                      <a16:colId xmlns:a16="http://schemas.microsoft.com/office/drawing/2014/main" val="2246416712"/>
                    </a:ext>
                  </a:extLst>
                </a:gridCol>
              </a:tblGrid>
              <a:tr h="2600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№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Сущность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Описание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85659" marT="53537" marB="53537" anchor="ctr"/>
                </a:tc>
                <a:extLst>
                  <a:ext uri="{0D108BD9-81ED-4DB2-BD59-A6C34878D82A}">
                    <a16:rowId xmlns:a16="http://schemas.microsoft.com/office/drawing/2014/main" val="3309075687"/>
                  </a:ext>
                </a:extLst>
              </a:tr>
              <a:tr h="85792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 dirty="0">
                          <a:effectLst/>
                        </a:rPr>
                        <a:t>1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 dirty="0">
                          <a:effectLst/>
                        </a:rPr>
                        <a:t>Пользователи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Хранит данные о зарегистрированных посетителях (email, логин, пароль). Обеспечивает вход в систему и идентификацию пользователя.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0" marT="53537" marB="53537" anchor="ctr"/>
                </a:tc>
                <a:extLst>
                  <a:ext uri="{0D108BD9-81ED-4DB2-BD59-A6C34878D82A}">
                    <a16:rowId xmlns:a16="http://schemas.microsoft.com/office/drawing/2014/main" val="3545360657"/>
                  </a:ext>
                </a:extLst>
              </a:tr>
              <a:tr h="10572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 dirty="0">
                          <a:effectLst/>
                        </a:rPr>
                        <a:t>2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Личные заявки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 dirty="0">
                          <a:effectLst/>
                        </a:rPr>
                        <a:t>Содержит информацию о персональных заявках на посещение: ФИО посетителя, паспортные данные, даты посещения, цель и статус рассмотрения.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0" marT="53537" marB="53537" anchor="ctr"/>
                </a:tc>
                <a:extLst>
                  <a:ext uri="{0D108BD9-81ED-4DB2-BD59-A6C34878D82A}">
                    <a16:rowId xmlns:a16="http://schemas.microsoft.com/office/drawing/2014/main" val="4126140789"/>
                  </a:ext>
                </a:extLst>
              </a:tr>
              <a:tr h="85792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3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Групповые заявки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Хранит заявки на коллективное посещение: данные руководителя группы, сроки посещения, цель и связь со списком участников группы.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0" marT="53537" marB="53537" anchor="ctr"/>
                </a:tc>
                <a:extLst>
                  <a:ext uri="{0D108BD9-81ED-4DB2-BD59-A6C34878D82A}">
                    <a16:rowId xmlns:a16="http://schemas.microsoft.com/office/drawing/2014/main" val="1798589237"/>
                  </a:ext>
                </a:extLst>
              </a:tr>
              <a:tr h="85792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Черный список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Содержит данные о нежелательных посетителях (паспорт, ФИО, причина). Автоматически отклоняет заявки от лиц, нарушавших правила.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0" marT="53537" marB="53537" anchor="ctr"/>
                </a:tc>
                <a:extLst>
                  <a:ext uri="{0D108BD9-81ED-4DB2-BD59-A6C34878D82A}">
                    <a16:rowId xmlns:a16="http://schemas.microsoft.com/office/drawing/2014/main" val="1002358765"/>
                  </a:ext>
                </a:extLst>
              </a:tr>
              <a:tr h="10572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5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>
                          <a:effectLst/>
                        </a:rPr>
                        <a:t>Авторизация сотрудников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85659" marT="53537" marB="535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ru-RU" sz="900" dirty="0">
                          <a:effectLst/>
                        </a:rPr>
                        <a:t>Хранит коды доступа для сотрудников и их роли (общий отдел, охрана, подразделение). Обеспечивает разграничение прав доступа.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59" marR="0" marT="53537" marB="53537" anchor="ctr"/>
                </a:tc>
                <a:extLst>
                  <a:ext uri="{0D108BD9-81ED-4DB2-BD59-A6C34878D82A}">
                    <a16:rowId xmlns:a16="http://schemas.microsoft.com/office/drawing/2014/main" val="3391693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36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8030BD2-C41D-471E-A0E9-06A4BE10EAF9}"/>
              </a:ext>
            </a:extLst>
          </p:cNvPr>
          <p:cNvSpPr txBox="1">
            <a:spLocks/>
          </p:cNvSpPr>
          <p:nvPr/>
        </p:nvSpPr>
        <p:spPr>
          <a:xfrm>
            <a:off x="838200" y="808522"/>
            <a:ext cx="10515600" cy="882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3600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4CF8F03-E96F-4E07-8135-A6D84C95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689" y="32086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 UML-</a:t>
            </a:r>
            <a:r>
              <a:rPr lang="ru-RU" sz="3600" b="1" dirty="0"/>
              <a:t>ДИАГРАММА 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10091F7-71DC-BD49-E244-9711B820EC32}"/>
              </a:ext>
            </a:extLst>
          </p:cNvPr>
          <p:cNvSpPr txBox="1">
            <a:spLocks/>
          </p:cNvSpPr>
          <p:nvPr/>
        </p:nvSpPr>
        <p:spPr>
          <a:xfrm>
            <a:off x="1524000" y="18771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FA15D-9223-4567-8295-D41E2CD965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82882" y="1055550"/>
            <a:ext cx="6026235" cy="51100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559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7C97DC7-6A7C-4631-85B0-68D6BC39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680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СХЕМА БАЗЫ ДАННЫХ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568CE8D-CDB4-E800-ED43-AE7C3044E5F8}"/>
              </a:ext>
            </a:extLst>
          </p:cNvPr>
          <p:cNvSpPr txBox="1">
            <a:spLocks/>
          </p:cNvSpPr>
          <p:nvPr/>
        </p:nvSpPr>
        <p:spPr>
          <a:xfrm>
            <a:off x="1524000" y="29168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A2E0D7-23A9-437C-8315-5DE3DB6486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0288" y="1173852"/>
            <a:ext cx="5771424" cy="5050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923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2900F9-C0E7-143A-2BB5-E46DECF38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599712"/>
              </p:ext>
            </p:extLst>
          </p:nvPr>
        </p:nvGraphicFramePr>
        <p:xfrm>
          <a:off x="2823801" y="1909364"/>
          <a:ext cx="6544398" cy="414011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81466">
                  <a:extLst>
                    <a:ext uri="{9D8B030D-6E8A-4147-A177-3AD203B41FA5}">
                      <a16:colId xmlns:a16="http://schemas.microsoft.com/office/drawing/2014/main" val="3881425824"/>
                    </a:ext>
                  </a:extLst>
                </a:gridCol>
                <a:gridCol w="2181466">
                  <a:extLst>
                    <a:ext uri="{9D8B030D-6E8A-4147-A177-3AD203B41FA5}">
                      <a16:colId xmlns:a16="http://schemas.microsoft.com/office/drawing/2014/main" val="2728613165"/>
                    </a:ext>
                  </a:extLst>
                </a:gridCol>
                <a:gridCol w="2181466">
                  <a:extLst>
                    <a:ext uri="{9D8B030D-6E8A-4147-A177-3AD203B41FA5}">
                      <a16:colId xmlns:a16="http://schemas.microsoft.com/office/drawing/2014/main" val="4243113673"/>
                    </a:ext>
                  </a:extLst>
                </a:gridCol>
              </a:tblGrid>
              <a:tr h="575127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</a:rPr>
                        <a:t>Уровень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</a:rPr>
                        <a:t>Роль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</a:rPr>
                        <a:t>Основные функции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extLst>
                  <a:ext uri="{0D108BD9-81ED-4DB2-BD59-A6C34878D82A}">
                    <a16:rowId xmlns:a16="http://schemas.microsoft.com/office/drawing/2014/main" val="204425314"/>
                  </a:ext>
                </a:extLst>
              </a:tr>
              <a:tr h="5751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1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Посетитель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Подача заявок, просмотр статуса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1472121979"/>
                  </a:ext>
                </a:extLst>
              </a:tr>
              <a:tr h="10252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2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</a:rPr>
                        <a:t>Охрана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</a:rPr>
                        <a:t>Разрешение доступа, пропускной режим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3147282730"/>
                  </a:ext>
                </a:extLst>
              </a:tr>
              <a:tr h="5751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3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Общий отдел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Проверка заявок, отчёты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3918012375"/>
                  </a:ext>
                </a:extLst>
              </a:tr>
              <a:tr h="80017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4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Подразделение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Фиксация времени, чёрный список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475132972"/>
                  </a:ext>
                </a:extLst>
              </a:tr>
              <a:tr h="5751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5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</a:rPr>
                        <a:t>Администратор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</a:rPr>
                        <a:t>Полный доступ, управление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2481006935"/>
                  </a:ext>
                </a:extLst>
              </a:tr>
            </a:tbl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BABE391-AFDF-48E1-A8CE-1C62C74A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УРОВНИ ДОСТУПА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CB367-00CE-621F-CD51-09AB94E32C20}"/>
              </a:ext>
            </a:extLst>
          </p:cNvPr>
          <p:cNvSpPr txBox="1">
            <a:spLocks/>
          </p:cNvSpPr>
          <p:nvPr/>
        </p:nvSpPr>
        <p:spPr>
          <a:xfrm>
            <a:off x="1524000" y="223592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3" name="AutoShape 2" descr="Автосервис в работе с Mercedes-Benz">
            <a:extLst>
              <a:ext uri="{FF2B5EF4-FFF2-40B4-BE49-F238E27FC236}">
                <a16:creationId xmlns:a16="http://schemas.microsoft.com/office/drawing/2014/main" id="{FABBB0B7-C7B5-7B85-AB39-BA0BBD6FF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72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31225-979C-85D6-5B79-27008020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89BEC5-B774-ADE5-8DB8-219BFB5F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Спроектирована БД в 3НФ (12 таблиц)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Разработано 1 представление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Создано 7 хранимых процедур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Реализовано 4 триггера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Разработано 4 клиентских терминала (посетитель, общий отдел, охрана, подразделение)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Реализована система ролей (3 уровня: </a:t>
            </a:r>
            <a:r>
              <a:rPr lang="ru-RU" b="0" i="0" dirty="0" err="1">
                <a:solidFill>
                  <a:srgbClr val="0F1115"/>
                </a:solidFill>
                <a:effectLst/>
              </a:rPr>
              <a:t>GeneralDept</a:t>
            </a:r>
            <a:r>
              <a:rPr lang="ru-RU" b="0" i="0" dirty="0">
                <a:solidFill>
                  <a:srgbClr val="0F1115"/>
                </a:solidFill>
                <a:effectLst/>
              </a:rPr>
              <a:t>, Security, </a:t>
            </a:r>
            <a:r>
              <a:rPr lang="ru-RU" b="0" i="0" dirty="0" err="1">
                <a:solidFill>
                  <a:srgbClr val="0F1115"/>
                </a:solidFill>
                <a:effectLst/>
              </a:rPr>
              <a:t>DepartmentEmployee</a:t>
            </a:r>
            <a:r>
              <a:rPr lang="ru-RU" b="0" i="0" dirty="0">
                <a:solidFill>
                  <a:srgbClr val="0F1115"/>
                </a:solidFill>
                <a:effectLst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Автоматическая проверка черного списка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Автоматическое формирование отчетов ТБ (каждые 3 часа в HTML/PDF)</a:t>
            </a:r>
          </a:p>
        </p:txBody>
      </p:sp>
    </p:spTree>
    <p:extLst>
      <p:ext uri="{BB962C8B-B14F-4D97-AF65-F5344CB8AC3E}">
        <p14:creationId xmlns:p14="http://schemas.microsoft.com/office/powerpoint/2010/main" val="381280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65012-C0BB-DE99-7D00-D9247B5C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DF9BF6-7AB4-E17A-3B5C-D3CBA7BDD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1578881"/>
            <a:ext cx="11252200" cy="47928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Чему я научился за время практики: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Проектирование баз данных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разработка структуры БД, выделение сущностей и атрибутов, нормализация до 3 нормальной формы.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Работа с </a:t>
            </a:r>
            <a:r>
              <a:rPr lang="ru-RU" sz="1800" b="1" dirty="0" err="1">
                <a:solidFill>
                  <a:srgbClr val="0F1115"/>
                </a:solidFill>
                <a:effectLst/>
              </a:rPr>
              <a:t>PostgreSQL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создание таблиц, индексов, ограничений, настройка внешних ключей и схем.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Написание сложных SQL запросов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объединение таблиц, группировка данных, фильтрация, сортировка.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Создание представлений (VIEW)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упрощение доступа к данным и повышение безопасности.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Разработка хранимых процедур и функций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автоматизация бизнес-логики на стороне базы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Создание триггеров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автоматическое формирование логина, проверка нарушений, добавление в черный список.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Управление доступом и ролями пользователей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разграничение прав для различных категорий сотрудников.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Работа с </a:t>
            </a:r>
            <a:r>
              <a:rPr lang="ru-RU" sz="1800" b="1" dirty="0" err="1">
                <a:solidFill>
                  <a:srgbClr val="0F1115"/>
                </a:solidFill>
                <a:effectLst/>
              </a:rPr>
              <a:t>pgAdmin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администрирование БД, выполнение запросов, создание резервных копий и восстановление.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F1115"/>
                </a:solidFill>
                <a:effectLst/>
              </a:rPr>
              <a:t>Отладка и оптимизация запросов</a:t>
            </a:r>
            <a:r>
              <a:rPr lang="ru-RU" sz="1800" b="0" dirty="0">
                <a:solidFill>
                  <a:srgbClr val="0F1115"/>
                </a:solidFill>
                <a:effectLst/>
              </a:rPr>
              <a:t> – использование индексов, анализ плана выполнения, устранение ошибок.</a:t>
            </a:r>
          </a:p>
        </p:txBody>
      </p:sp>
    </p:spTree>
    <p:extLst>
      <p:ext uri="{BB962C8B-B14F-4D97-AF65-F5344CB8AC3E}">
        <p14:creationId xmlns:p14="http://schemas.microsoft.com/office/powerpoint/2010/main" val="696065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F52D9-10FD-4D8F-BE49-4AF2929E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сделано: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919756-ED81-4659-8F55-F59DCC4F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Спроектирована и реализована база данных в 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PostgreSQL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 (12 таблиц, нормализация до 3НФ)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Разработано представление для просмотра заявок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Создано 7 хранимых процедур (фильтрация, авторизация, проверка черного списка и др.)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Реализовано 4 триггера (генерация логина, добавление в черный список, проверка времени)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Разработано 4 клиентских терминала (посетитель, общий отдел, охрана, подразделение)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Настроена система ролей (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GeneralDept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, Security, 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DepartmentEmployee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Реализована автоматическая проверка черного списка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Настроено автоматическое формирование отчетов ТБ (каждые 3 часа)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Выполнено резервное копирование и восстановление БД</a:t>
            </a:r>
          </a:p>
        </p:txBody>
      </p:sp>
    </p:spTree>
    <p:extLst>
      <p:ext uri="{BB962C8B-B14F-4D97-AF65-F5344CB8AC3E}">
        <p14:creationId xmlns:p14="http://schemas.microsoft.com/office/powerpoint/2010/main" val="24547105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648</Words>
  <Application>Microsoft Office PowerPoint</Application>
  <PresentationFormat>Широкоэкранный</PresentationFormat>
  <Paragraphs>110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quote-cjk-patch</vt:lpstr>
      <vt:lpstr>Times New Roman</vt:lpstr>
      <vt:lpstr>Тема Office</vt:lpstr>
      <vt:lpstr>   ПМ11. Разработка, администрирование и защита баз данных</vt:lpstr>
      <vt:lpstr>ЦЕЛЬ И ЗАДАЧИ ПРАКТИКИ</vt:lpstr>
      <vt:lpstr>Анализ предметной области</vt:lpstr>
      <vt:lpstr> ЭТАПЫ РАЗРАБОТКИ</vt:lpstr>
      <vt:lpstr>ВЫДЕЛЕННЫЕ СУЩНОСТИ</vt:lpstr>
      <vt:lpstr> UML-ДИАГРАММА </vt:lpstr>
      <vt:lpstr>СХЕМА БАЗЫ ДАННЫХ</vt:lpstr>
      <vt:lpstr>УРОВНИ ДОСТУПА </vt:lpstr>
      <vt:lpstr>РЕЗУЛЬТАТЫ РАБОТЫ</vt:lpstr>
      <vt:lpstr>ЗАКЛЮЧЕНИЕ</vt:lpstr>
      <vt:lpstr>Что сделано: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МОДУЛЯ ДЛЯ АВТОМАТИЗАЦИИ УЧЕТА АНАЛИЗОВ МЕДИЦИНСКОЙ ЛАБОРАТОРИИ</dc:title>
  <dc:creator>Наташа Коротких</dc:creator>
  <cp:lastModifiedBy>Kab33-10</cp:lastModifiedBy>
  <cp:revision>97</cp:revision>
  <dcterms:created xsi:type="dcterms:W3CDTF">2024-10-25T10:47:39Z</dcterms:created>
  <dcterms:modified xsi:type="dcterms:W3CDTF">2026-04-21T06:04:42Z</dcterms:modified>
</cp:coreProperties>
</file>